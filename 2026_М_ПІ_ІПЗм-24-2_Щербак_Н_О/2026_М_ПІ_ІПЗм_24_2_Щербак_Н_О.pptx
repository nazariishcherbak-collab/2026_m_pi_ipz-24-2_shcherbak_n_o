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9" r:id="rId12"/>
    <p:sldId id="265" r:id="rId13"/>
    <p:sldId id="266" r:id="rId14"/>
    <p:sldId id="271" r:id="rId15"/>
    <p:sldId id="267" r:id="rId16"/>
    <p:sldId id="272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Economica" panose="02000506040000020004" pitchFamily="2" charset="77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6"/>
    <p:restoredTop sz="94658"/>
  </p:normalViewPr>
  <p:slideViewPr>
    <p:cSldViewPr snapToGrid="0">
      <p:cViewPr varScale="1">
        <p:scale>
          <a:sx n="160" d="100"/>
          <a:sy n="160" d="100"/>
        </p:scale>
        <p:origin x="92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4A1D1D6C-AFF0-0702-7D34-E12E15389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>
            <a:extLst>
              <a:ext uri="{FF2B5EF4-FFF2-40B4-BE49-F238E27FC236}">
                <a16:creationId xmlns:a16="http://schemas.microsoft.com/office/drawing/2014/main" id="{92ED1555-3091-C403-7BDD-12EE7D532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>
            <a:extLst>
              <a:ext uri="{FF2B5EF4-FFF2-40B4-BE49-F238E27FC236}">
                <a16:creationId xmlns:a16="http://schemas.microsoft.com/office/drawing/2014/main" id="{080ACBCB-D5BE-175A-1709-30D88B9FA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5972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62D08B5-6608-29DF-412F-45FBDA5E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3BDD3910-4B22-FCD4-5EDF-D0360E7A2A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2C9F9420-4F61-D419-3AB1-C2968F73CD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4905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A17A0BE-D288-7745-5C4B-72C02D5A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975C680D-504B-DC93-96CA-FFF91D616E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5A388B6C-77BD-898E-7344-FDB503631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7284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10057" y="1029500"/>
            <a:ext cx="4895203" cy="14180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uk-UA" sz="2000" dirty="0"/>
              <a:t>Дослідження методів та </a:t>
            </a:r>
            <a:br>
              <a:rPr lang="uk-UA" sz="2000" dirty="0"/>
            </a:br>
            <a:r>
              <a:rPr lang="uk-UA" sz="2000" dirty="0"/>
              <a:t>алгоритмів для рішення проблеми дискретного логарифмування в контексті криптографічної стійкості Біткоїну</a:t>
            </a:r>
            <a:r>
              <a:rPr lang="en-US" sz="1100" dirty="0"/>
              <a:t> </a:t>
            </a:r>
            <a:endParaRPr sz="11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810057" y="3075709"/>
            <a:ext cx="3281100" cy="2067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/>
            <a:r>
              <a:rPr lang="uk-UA" sz="1400" dirty="0"/>
              <a:t>Щербак Назарій Олегович, ІПЗм-24-2 </a:t>
            </a:r>
          </a:p>
          <a:p>
            <a:pPr marL="0" lvl="0" indent="0" algn="l"/>
            <a:endParaRPr lang="uk-UA" sz="1400" dirty="0"/>
          </a:p>
          <a:p>
            <a:pPr marL="0" lvl="0" indent="0" algn="l"/>
            <a:r>
              <a:rPr lang="uk-UA" sz="1400" dirty="0"/>
              <a:t>Науковий керівник: </a:t>
            </a:r>
          </a:p>
          <a:p>
            <a:pPr marL="0" lvl="0" indent="0" algn="l"/>
            <a:r>
              <a:rPr lang="uk-UA" sz="1400" dirty="0"/>
              <a:t>доц. </a:t>
            </a:r>
            <a:r>
              <a:rPr lang="uk-UA" sz="1400" dirty="0" err="1"/>
              <a:t>Мельнікова</a:t>
            </a:r>
            <a:r>
              <a:rPr lang="uk-UA" sz="1400" dirty="0"/>
              <a:t> Роксана Валеріївна</a:t>
            </a:r>
          </a:p>
          <a:p>
            <a:pPr marL="0" lvl="0" indent="0" algn="l"/>
            <a:endParaRPr lang="uk-UA"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"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400" dirty="0"/>
              <a:t>22 травня 2026</a:t>
            </a:r>
            <a:endParaRPr sz="1400"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Дослідження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173008" y="837722"/>
            <a:ext cx="8235635" cy="1214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114300" lvl="0" indent="0">
              <a:lnSpc>
                <a:spcPct val="170000"/>
              </a:lnSpc>
              <a:buNone/>
            </a:pPr>
            <a:r>
              <a:rPr lang="en-US" dirty="0" err="1"/>
              <a:t>Біткоїн</a:t>
            </a:r>
            <a:r>
              <a:rPr lang="en-US" dirty="0"/>
              <a:t> — </a:t>
            </a:r>
            <a:r>
              <a:rPr lang="en-US" dirty="0" err="1"/>
              <a:t>найбільша</a:t>
            </a:r>
            <a:r>
              <a:rPr lang="en-US" dirty="0"/>
              <a:t> </a:t>
            </a:r>
            <a:r>
              <a:rPr lang="en-US" dirty="0" err="1"/>
              <a:t>криптовалюта</a:t>
            </a:r>
            <a:r>
              <a:rPr lang="en-US" dirty="0"/>
              <a:t>: &gt; 1,3 </a:t>
            </a:r>
            <a:r>
              <a:rPr lang="en-US" dirty="0" err="1"/>
              <a:t>трлн</a:t>
            </a:r>
            <a:r>
              <a:rPr lang="en-US" dirty="0"/>
              <a:t> USD (</a:t>
            </a:r>
            <a:r>
              <a:rPr lang="en-US" dirty="0" err="1"/>
              <a:t>березень</a:t>
            </a:r>
            <a:r>
              <a:rPr lang="en-US" dirty="0"/>
              <a:t> 2026)</a:t>
            </a:r>
          </a:p>
          <a:p>
            <a:pPr marL="114300" lvl="0" indent="0">
              <a:lnSpc>
                <a:spcPct val="170000"/>
              </a:lnSpc>
              <a:buNone/>
            </a:pPr>
            <a:r>
              <a:rPr lang="en-US" dirty="0" err="1"/>
              <a:t>Безпека</a:t>
            </a:r>
            <a:r>
              <a:rPr lang="en-US" dirty="0"/>
              <a:t> </a:t>
            </a:r>
            <a:r>
              <a:rPr lang="en-US" dirty="0" err="1"/>
              <a:t>Біткоїну</a:t>
            </a:r>
            <a:r>
              <a:rPr lang="en-US" dirty="0"/>
              <a:t> </a:t>
            </a:r>
            <a:r>
              <a:rPr lang="en-US" dirty="0" err="1"/>
              <a:t>стоїть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ECDSA / </a:t>
            </a:r>
            <a:r>
              <a:rPr lang="en-US" dirty="0" err="1"/>
              <a:t>кривій</a:t>
            </a:r>
            <a:r>
              <a:rPr lang="en-US" dirty="0"/>
              <a:t> secp256k1 → </a:t>
            </a:r>
            <a:r>
              <a:rPr lang="en-US" dirty="0" err="1"/>
              <a:t>задача</a:t>
            </a:r>
            <a:r>
              <a:rPr lang="en-US" dirty="0"/>
              <a:t> ECDLP</a:t>
            </a:r>
          </a:p>
          <a:p>
            <a:pPr marL="114300" lvl="0" indent="0">
              <a:lnSpc>
                <a:spcPct val="170000"/>
              </a:lnSpc>
              <a:buNone/>
            </a:pPr>
            <a:r>
              <a:rPr lang="en-US" dirty="0" err="1"/>
              <a:t>Будь-який</a:t>
            </a:r>
            <a:r>
              <a:rPr lang="en-US" dirty="0"/>
              <a:t> </a:t>
            </a:r>
            <a:r>
              <a:rPr lang="en-US" dirty="0" err="1"/>
              <a:t>прогрес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атаці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ECDLP = </a:t>
            </a:r>
            <a:r>
              <a:rPr lang="en-US" dirty="0" err="1"/>
              <a:t>системна</a:t>
            </a:r>
            <a:r>
              <a:rPr lang="en-US" dirty="0"/>
              <a:t> </a:t>
            </a:r>
            <a:r>
              <a:rPr lang="en-US" dirty="0" err="1"/>
              <a:t>загроза</a:t>
            </a:r>
            <a:r>
              <a:rPr lang="uk-UA" dirty="0"/>
              <a:t>, а процес прийняття рішень - повільний</a:t>
            </a:r>
            <a:endParaRPr lang="en-US" dirty="0"/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uk" dirty="0"/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uk" dirty="0"/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  <p:sp>
        <p:nvSpPr>
          <p:cNvPr id="3" name="Google Shape;72;p14">
            <a:extLst>
              <a:ext uri="{FF2B5EF4-FFF2-40B4-BE49-F238E27FC236}">
                <a16:creationId xmlns:a16="http://schemas.microsoft.com/office/drawing/2014/main" id="{DED04BD4-A209-8C3F-8DD7-C46B2603B06E}"/>
              </a:ext>
            </a:extLst>
          </p:cNvPr>
          <p:cNvSpPr txBox="1">
            <a:spLocks/>
          </p:cNvSpPr>
          <p:nvPr/>
        </p:nvSpPr>
        <p:spPr>
          <a:xfrm>
            <a:off x="311700" y="2705198"/>
            <a:ext cx="3499366" cy="165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lvl="0" indent="0">
              <a:buNone/>
            </a:pPr>
            <a:r>
              <a:rPr lang="en-US" sz="1400" dirty="0"/>
              <a:t>GPU-</a:t>
            </a:r>
            <a:r>
              <a:rPr lang="en-US" sz="1400" dirty="0" err="1"/>
              <a:t>адаптація</a:t>
            </a:r>
            <a:r>
              <a:rPr lang="en-US" sz="1400" dirty="0"/>
              <a:t> </a:t>
            </a:r>
            <a:r>
              <a:rPr lang="en-US" sz="1400" dirty="0" err="1"/>
              <a:t>алгоритму</a:t>
            </a:r>
            <a:r>
              <a:rPr lang="en-US" sz="1400" dirty="0"/>
              <a:t> Bernstein–Lange </a:t>
            </a:r>
            <a:r>
              <a:rPr lang="en-US" sz="1400" dirty="0" err="1"/>
              <a:t>на</a:t>
            </a:r>
            <a:r>
              <a:rPr lang="en-US" sz="1400" dirty="0"/>
              <a:t> CUDA</a:t>
            </a:r>
            <a:endParaRPr lang="uk-UA" sz="1400" dirty="0"/>
          </a:p>
          <a:p>
            <a:pPr lvl="0"/>
            <a:endParaRPr lang="en-US" sz="1400" dirty="0"/>
          </a:p>
          <a:p>
            <a:pPr marL="114300" lvl="0" indent="0">
              <a:buNone/>
            </a:pPr>
            <a:r>
              <a:rPr lang="en-US" sz="1400" dirty="0" err="1"/>
              <a:t>Порівняння</a:t>
            </a:r>
            <a:r>
              <a:rPr lang="en-US" sz="1400" dirty="0"/>
              <a:t> </a:t>
            </a:r>
            <a:r>
              <a:rPr lang="en-US" sz="1400" dirty="0" err="1"/>
              <a:t>з</a:t>
            </a:r>
            <a:r>
              <a:rPr lang="en-US" sz="1400" dirty="0"/>
              <a:t> CPU- </a:t>
            </a:r>
            <a:r>
              <a:rPr lang="en-US" sz="1400" dirty="0" err="1"/>
              <a:t>та</a:t>
            </a:r>
            <a:r>
              <a:rPr lang="en-US" sz="1400" dirty="0"/>
              <a:t> GPU-</a:t>
            </a:r>
            <a:r>
              <a:rPr lang="en-US" sz="1400" dirty="0" err="1"/>
              <a:t>реалізаціями</a:t>
            </a:r>
            <a:r>
              <a:rPr lang="en-US" sz="1400" dirty="0"/>
              <a:t> </a:t>
            </a:r>
            <a:r>
              <a:rPr lang="en-US" sz="1400" dirty="0" err="1"/>
              <a:t>ρ-алгоритму</a:t>
            </a:r>
            <a:r>
              <a:rPr lang="en-US" sz="1400" dirty="0"/>
              <a:t> </a:t>
            </a:r>
            <a:r>
              <a:rPr lang="en-US" sz="1400" dirty="0" err="1"/>
              <a:t>Полларда</a:t>
            </a:r>
            <a:endParaRPr lang="en-US" sz="1400" dirty="0"/>
          </a:p>
        </p:txBody>
      </p:sp>
      <p:sp>
        <p:nvSpPr>
          <p:cNvPr id="4" name="Google Shape;72;p14">
            <a:extLst>
              <a:ext uri="{FF2B5EF4-FFF2-40B4-BE49-F238E27FC236}">
                <a16:creationId xmlns:a16="http://schemas.microsoft.com/office/drawing/2014/main" id="{2C721DBC-F024-03D6-5705-82AB60C778F3}"/>
              </a:ext>
            </a:extLst>
          </p:cNvPr>
          <p:cNvSpPr txBox="1">
            <a:spLocks/>
          </p:cNvSpPr>
          <p:nvPr/>
        </p:nvSpPr>
        <p:spPr>
          <a:xfrm>
            <a:off x="4767534" y="2705198"/>
            <a:ext cx="3499366" cy="183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lvl="0" indent="0">
              <a:buNone/>
            </a:pPr>
            <a:r>
              <a:rPr lang="en-US" sz="1400" dirty="0" err="1"/>
              <a:t>Об'єкт</a:t>
            </a:r>
            <a:r>
              <a:rPr lang="en-US" sz="1400" dirty="0"/>
              <a:t>: </a:t>
            </a:r>
            <a:r>
              <a:rPr lang="en-US" sz="1400" dirty="0" err="1"/>
              <a:t>процес</a:t>
            </a:r>
            <a:r>
              <a:rPr lang="en-US" sz="1400" dirty="0"/>
              <a:t> </a:t>
            </a:r>
            <a:r>
              <a:rPr lang="en-US" sz="1400" dirty="0" err="1"/>
              <a:t>розв'язання</a:t>
            </a:r>
            <a:r>
              <a:rPr lang="en-US" sz="1400" dirty="0"/>
              <a:t> ECDLP </a:t>
            </a:r>
            <a:r>
              <a:rPr lang="en-US" sz="1400" dirty="0" err="1"/>
              <a:t>на</a:t>
            </a:r>
            <a:r>
              <a:rPr lang="en-US" sz="1400" dirty="0"/>
              <a:t> secp256k1</a:t>
            </a:r>
            <a:endParaRPr lang="uk-UA" sz="1400" dirty="0"/>
          </a:p>
          <a:p>
            <a:pPr marL="114300" lvl="0" indent="0">
              <a:buNone/>
            </a:pPr>
            <a:endParaRPr lang="en-US" sz="1400" dirty="0"/>
          </a:p>
          <a:p>
            <a:pPr marL="114300" lvl="0" indent="0">
              <a:buNone/>
            </a:pPr>
            <a:r>
              <a:rPr lang="en-US" sz="1400" dirty="0" err="1"/>
              <a:t>Предмет</a:t>
            </a:r>
            <a:r>
              <a:rPr lang="en-US" sz="1400" dirty="0"/>
              <a:t>: GPU-</a:t>
            </a:r>
            <a:r>
              <a:rPr lang="en-US" sz="1400" dirty="0" err="1"/>
              <a:t>реалізація</a:t>
            </a:r>
            <a:r>
              <a:rPr lang="en-US" sz="1400" dirty="0"/>
              <a:t> Bernstein–Lange </a:t>
            </a:r>
            <a:r>
              <a:rPr lang="en-US" sz="1400" dirty="0" err="1"/>
              <a:t>та</a:t>
            </a:r>
            <a:r>
              <a:rPr lang="en-US" sz="1400" dirty="0"/>
              <a:t> </a:t>
            </a:r>
            <a:r>
              <a:rPr lang="en-US" sz="1400" dirty="0" err="1"/>
              <a:t>її</a:t>
            </a:r>
            <a:r>
              <a:rPr lang="en-US" sz="1400" dirty="0"/>
              <a:t> </a:t>
            </a:r>
            <a:r>
              <a:rPr lang="en-US" sz="1400" dirty="0" err="1"/>
              <a:t>продуктивність</a:t>
            </a:r>
            <a:endParaRPr lang="en-US" sz="1400" dirty="0"/>
          </a:p>
        </p:txBody>
      </p:sp>
      <p:sp>
        <p:nvSpPr>
          <p:cNvPr id="5" name="Google Shape;72;p14">
            <a:extLst>
              <a:ext uri="{FF2B5EF4-FFF2-40B4-BE49-F238E27FC236}">
                <a16:creationId xmlns:a16="http://schemas.microsoft.com/office/drawing/2014/main" id="{E65D5EFF-D507-907A-B66B-66866C06DCBE}"/>
              </a:ext>
            </a:extLst>
          </p:cNvPr>
          <p:cNvSpPr txBox="1">
            <a:spLocks/>
          </p:cNvSpPr>
          <p:nvPr/>
        </p:nvSpPr>
        <p:spPr>
          <a:xfrm>
            <a:off x="496071" y="2347056"/>
            <a:ext cx="2669159" cy="553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lvl="0" indent="0">
              <a:buNone/>
            </a:pPr>
            <a:r>
              <a:rPr lang="uk-UA" b="1" dirty="0"/>
              <a:t>Напрям дослідження</a:t>
            </a:r>
            <a:endParaRPr lang="en-US" b="1" dirty="0"/>
          </a:p>
        </p:txBody>
      </p:sp>
      <p:sp>
        <p:nvSpPr>
          <p:cNvPr id="6" name="Google Shape;72;p14">
            <a:extLst>
              <a:ext uri="{FF2B5EF4-FFF2-40B4-BE49-F238E27FC236}">
                <a16:creationId xmlns:a16="http://schemas.microsoft.com/office/drawing/2014/main" id="{B3A928CF-DF00-CCB2-E68C-FE1A8F4C90CB}"/>
              </a:ext>
            </a:extLst>
          </p:cNvPr>
          <p:cNvSpPr txBox="1">
            <a:spLocks/>
          </p:cNvSpPr>
          <p:nvPr/>
        </p:nvSpPr>
        <p:spPr>
          <a:xfrm>
            <a:off x="4529225" y="2347056"/>
            <a:ext cx="3580924" cy="553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lvl="0" indent="0">
              <a:buNone/>
            </a:pPr>
            <a:r>
              <a:rPr lang="uk-UA" b="1" dirty="0"/>
              <a:t>Об</a:t>
            </a:r>
            <a:r>
              <a:rPr lang="en-US" b="1" dirty="0"/>
              <a:t>’</a:t>
            </a:r>
            <a:r>
              <a:rPr lang="uk-UA" b="1" dirty="0" err="1"/>
              <a:t>єкт</a:t>
            </a:r>
            <a:r>
              <a:rPr lang="uk-UA" b="1" dirty="0"/>
              <a:t> та предмет дослідження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Огляд літератури (аналогів) </a:t>
            </a:r>
            <a:endParaRPr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Google Shape;79;p1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9389" y="822378"/>
                <a:ext cx="8520600" cy="144763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14300" lvl="0" indent="0">
                  <a:lnSpc>
                    <a:spcPct val="150000"/>
                  </a:lnSpc>
                  <a:buNone/>
                </a:pPr>
                <a:r>
                  <a:rPr lang="en-US" sz="1300" dirty="0" err="1">
                    <a:highlight>
                      <a:srgbClr val="FFFFFF"/>
                    </a:highlight>
                  </a:rPr>
                  <a:t>Гельфонд</a:t>
                </a:r>
                <a:r>
                  <a:rPr lang="en-US" sz="1300" dirty="0">
                    <a:highlight>
                      <a:srgbClr val="FFFFFF"/>
                    </a:highlight>
                  </a:rPr>
                  <a:t>–</a:t>
                </a:r>
                <a:r>
                  <a:rPr lang="en-US" sz="1300" dirty="0" err="1">
                    <a:highlight>
                      <a:srgbClr val="FFFFFF"/>
                    </a:highlight>
                  </a:rPr>
                  <a:t>Шенкс</a:t>
                </a:r>
                <a:r>
                  <a:rPr lang="en-US" sz="1300" dirty="0">
                    <a:highlight>
                      <a:srgbClr val="FFFFFF"/>
                    </a:highlight>
                  </a:rPr>
                  <a:t> (Baby-step Giant-step) —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sz="1300" dirty="0">
                    <a:effectLst/>
                  </a:rPr>
                  <a:t> </a:t>
                </a:r>
                <a:r>
                  <a:rPr lang="en-US" sz="1300" dirty="0">
                    <a:highlight>
                      <a:srgbClr val="FFFFFF"/>
                    </a:highlight>
                  </a:rPr>
                  <a:t>), </a:t>
                </a:r>
                <a:r>
                  <a:rPr lang="en-US" sz="1300" dirty="0" err="1">
                    <a:highlight>
                      <a:srgbClr val="FFFFFF"/>
                    </a:highlight>
                  </a:rPr>
                  <a:t>непридатний</a:t>
                </a:r>
                <a:r>
                  <a:rPr lang="en-US" sz="1300" dirty="0">
                    <a:highlight>
                      <a:srgbClr val="FFFFFF"/>
                    </a:highlight>
                  </a:rPr>
                  <a:t> </a:t>
                </a:r>
                <a:r>
                  <a:rPr lang="en-US" sz="1300" dirty="0" err="1">
                    <a:highlight>
                      <a:srgbClr val="FFFFFF"/>
                    </a:highlight>
                  </a:rPr>
                  <a:t>для</a:t>
                </a:r>
                <a:r>
                  <a:rPr lang="en-US" sz="1300" dirty="0">
                    <a:highlight>
                      <a:srgbClr val="FFFFFF"/>
                    </a:highlight>
                  </a:rPr>
                  <a:t> secp256k1</a:t>
                </a:r>
              </a:p>
              <a:p>
                <a:pPr marL="114300" lvl="0" indent="0">
                  <a:lnSpc>
                    <a:spcPct val="150000"/>
                  </a:lnSpc>
                  <a:buNone/>
                </a:pPr>
                <a:r>
                  <a:rPr lang="en-US" sz="1300" dirty="0" err="1">
                    <a:highlight>
                      <a:srgbClr val="FFFFFF"/>
                    </a:highlight>
                  </a:rPr>
                  <a:t>ρ</a:t>
                </a:r>
                <a:r>
                  <a:rPr lang="ru-RU" sz="1300" dirty="0">
                    <a:highlight>
                      <a:srgbClr val="FFFFFF"/>
                    </a:highlight>
                  </a:rPr>
                  <a:t>-алгоритм Полларда + </a:t>
                </a:r>
                <a:r>
                  <a:rPr lang="ru-RU" sz="1300" dirty="0" err="1">
                    <a:highlight>
                      <a:srgbClr val="FFFFFF"/>
                    </a:highlight>
                  </a:rPr>
                  <a:t>паралельна</a:t>
                </a:r>
                <a:r>
                  <a:rPr lang="ru-RU" sz="1300" dirty="0">
                    <a:highlight>
                      <a:srgbClr val="FFFFFF"/>
                    </a:highlight>
                  </a:rPr>
                  <a:t> </a:t>
                </a:r>
                <a:r>
                  <a:rPr lang="ru-RU" sz="1300" dirty="0" err="1">
                    <a:highlight>
                      <a:srgbClr val="FFFFFF"/>
                    </a:highlight>
                  </a:rPr>
                  <a:t>версія</a:t>
                </a:r>
                <a:r>
                  <a:rPr lang="ru-RU" sz="1300" dirty="0">
                    <a:highlight>
                      <a:srgbClr val="FFFFFF"/>
                    </a:highlight>
                  </a:rPr>
                  <a:t> Ван </a:t>
                </a:r>
                <a:r>
                  <a:rPr lang="ru-RU" sz="1300" dirty="0" err="1">
                    <a:highlight>
                      <a:srgbClr val="FFFFFF"/>
                    </a:highlight>
                  </a:rPr>
                  <a:t>Уршота</a:t>
                </a:r>
                <a:r>
                  <a:rPr lang="ru-RU" sz="1300" dirty="0">
                    <a:highlight>
                      <a:srgbClr val="FFFFFF"/>
                    </a:highlight>
                  </a:rPr>
                  <a:t>–</a:t>
                </a:r>
                <a:r>
                  <a:rPr lang="ru-RU" sz="1300" dirty="0" err="1">
                    <a:highlight>
                      <a:srgbClr val="FFFFFF"/>
                    </a:highlight>
                  </a:rPr>
                  <a:t>Вінера</a:t>
                </a:r>
                <a:r>
                  <a:rPr lang="ru-RU" sz="1300" dirty="0">
                    <a:highlight>
                      <a:srgbClr val="FFFFFF"/>
                    </a:highlight>
                  </a:rPr>
                  <a:t> — стандарт </a:t>
                </a:r>
                <a:r>
                  <a:rPr lang="ru-RU" sz="1300" dirty="0" err="1">
                    <a:highlight>
                      <a:srgbClr val="FFFFFF"/>
                    </a:highlight>
                  </a:rPr>
                  <a:t>галузі</a:t>
                </a:r>
                <a:endParaRPr lang="en-US" sz="1300" dirty="0">
                  <a:highlight>
                    <a:srgbClr val="FFFFFF"/>
                  </a:highlight>
                </a:endParaRPr>
              </a:p>
              <a:p>
                <a:pPr marL="114300" lvl="0" indent="0">
                  <a:lnSpc>
                    <a:spcPct val="150000"/>
                  </a:lnSpc>
                  <a:buNone/>
                </a:pPr>
                <a:r>
                  <a:rPr lang="en-US" sz="1300" dirty="0">
                    <a:highlight>
                      <a:srgbClr val="FFFFFF"/>
                    </a:highlight>
                  </a:rPr>
                  <a:t>CUDA</a:t>
                </a:r>
                <a:r>
                  <a:rPr lang="ru-RU" sz="1300" dirty="0">
                    <a:highlight>
                      <a:srgbClr val="FFFFFF"/>
                    </a:highlight>
                  </a:rPr>
                  <a:t>-</a:t>
                </a:r>
                <a:r>
                  <a:rPr lang="ru-RU" sz="1300" dirty="0" err="1">
                    <a:highlight>
                      <a:srgbClr val="FFFFFF"/>
                    </a:highlight>
                  </a:rPr>
                  <a:t>реалізації</a:t>
                </a:r>
                <a:r>
                  <a:rPr lang="ru-RU" sz="1300" dirty="0">
                    <a:highlight>
                      <a:srgbClr val="FFFFFF"/>
                    </a:highlight>
                  </a:rPr>
                  <a:t> </a:t>
                </a:r>
                <a:r>
                  <a:rPr lang="en-US" sz="1300" dirty="0">
                    <a:highlight>
                      <a:srgbClr val="FFFFFF"/>
                    </a:highlight>
                  </a:rPr>
                  <a:t>Pollard rho</a:t>
                </a:r>
                <a:r>
                  <a:rPr lang="ru-RU" sz="1300" dirty="0">
                    <a:highlight>
                      <a:srgbClr val="FFFFFF"/>
                    </a:highlight>
                  </a:rPr>
                  <a:t>: </a:t>
                </a:r>
                <a:r>
                  <a:rPr lang="en-US" sz="1300" dirty="0">
                    <a:highlight>
                      <a:srgbClr val="FFFFFF"/>
                    </a:highlight>
                  </a:rPr>
                  <a:t>Chinnici</a:t>
                </a:r>
                <a:r>
                  <a:rPr lang="ru-RU" sz="1300" dirty="0">
                    <a:highlight>
                      <a:srgbClr val="FFFFFF"/>
                    </a:highlight>
                  </a:rPr>
                  <a:t>; </a:t>
                </a:r>
                <a:r>
                  <a:rPr lang="ru-RU" sz="1300" dirty="0" err="1">
                    <a:highlight>
                      <a:srgbClr val="FFFFFF"/>
                    </a:highlight>
                  </a:rPr>
                  <a:t>Варшавський</a:t>
                </a:r>
                <a:r>
                  <a:rPr lang="ru-RU" sz="1300" dirty="0">
                    <a:highlight>
                      <a:srgbClr val="FFFFFF"/>
                    </a:highlight>
                  </a:rPr>
                  <a:t> ТУ — 87,7 млн оп/с</a:t>
                </a:r>
                <a:endParaRPr lang="en-US" sz="1300" dirty="0">
                  <a:highlight>
                    <a:srgbClr val="FFFFFF"/>
                  </a:highlight>
                </a:endParaRPr>
              </a:p>
              <a:p>
                <a:pPr marL="114300" lvl="0" indent="0">
                  <a:lnSpc>
                    <a:spcPct val="150000"/>
                  </a:lnSpc>
                  <a:buNone/>
                </a:pPr>
                <a:r>
                  <a:rPr lang="en-US" sz="1300" dirty="0">
                    <a:highlight>
                      <a:srgbClr val="FFFFFF"/>
                    </a:highlight>
                  </a:rPr>
                  <a:t>Bernstein</a:t>
                </a:r>
                <a:r>
                  <a:rPr lang="ru-RU" sz="1300" dirty="0">
                    <a:highlight>
                      <a:srgbClr val="FFFFFF"/>
                    </a:highlight>
                  </a:rPr>
                  <a:t>, </a:t>
                </a:r>
                <a:r>
                  <a:rPr lang="en-US" sz="1300" dirty="0">
                    <a:highlight>
                      <a:srgbClr val="FFFFFF"/>
                    </a:highlight>
                  </a:rPr>
                  <a:t>Lange</a:t>
                </a:r>
                <a:r>
                  <a:rPr lang="ru-RU" sz="1300" dirty="0">
                    <a:highlight>
                      <a:srgbClr val="FFFFFF"/>
                    </a:highlight>
                  </a:rPr>
                  <a:t> — </a:t>
                </a:r>
                <a:r>
                  <a:rPr lang="ru-RU" sz="1300" dirty="0" err="1">
                    <a:highlight>
                      <a:srgbClr val="FFFFFF"/>
                    </a:highlight>
                  </a:rPr>
                  <a:t>обчислення</a:t>
                </a:r>
                <a:r>
                  <a:rPr lang="ru-RU" sz="1300" dirty="0">
                    <a:highlight>
                      <a:srgbClr val="FFFFFF"/>
                    </a:highlight>
                  </a:rPr>
                  <a:t> </a:t>
                </a:r>
                <a:r>
                  <a:rPr lang="en-US" sz="1300" dirty="0">
                    <a:highlight>
                      <a:srgbClr val="FFFFFF"/>
                    </a:highlight>
                  </a:rPr>
                  <a:t>log</a:t>
                </a:r>
                <a:r>
                  <a:rPr lang="ru-RU" sz="1300" dirty="0">
                    <a:highlight>
                      <a:srgbClr val="FFFFFF"/>
                    </a:highlight>
                  </a:rPr>
                  <a:t> за 1,93·ℓ¹</a:t>
                </a:r>
                <a:r>
                  <a:rPr lang="en-US" sz="1300" dirty="0" err="1">
                    <a:highlight>
                      <a:srgbClr val="FFFFFF"/>
                    </a:highlight>
                  </a:rPr>
                  <a:t>ᐟ</a:t>
                </a:r>
                <a:r>
                  <a:rPr lang="ru-RU" sz="1300" dirty="0">
                    <a:highlight>
                      <a:srgbClr val="FFFFFF"/>
                    </a:highlight>
                  </a:rPr>
                  <a:t>³ </a:t>
                </a:r>
                <a:r>
                  <a:rPr lang="ru-RU" sz="1300" dirty="0" err="1">
                    <a:highlight>
                      <a:srgbClr val="FFFFFF"/>
                    </a:highlight>
                  </a:rPr>
                  <a:t>множень</a:t>
                </a:r>
                <a:r>
                  <a:rPr lang="ru-RU" sz="1300" dirty="0">
                    <a:highlight>
                      <a:srgbClr val="FFFFFF"/>
                    </a:highlight>
                  </a:rPr>
                  <a:t> з таблицею </a:t>
                </a:r>
                <a:r>
                  <a:rPr lang="en-US" sz="1300" dirty="0">
                    <a:highlight>
                      <a:srgbClr val="FFFFFF"/>
                    </a:highlight>
                  </a:rPr>
                  <a:t>ℓ¹ᐟ³</a:t>
                </a:r>
              </a:p>
            </p:txBody>
          </p:sp>
        </mc:Choice>
        <mc:Fallback xmlns="">
          <p:sp>
            <p:nvSpPr>
              <p:cNvPr id="79" name="Google Shape;79;p1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9389" y="822378"/>
                <a:ext cx="8520600" cy="14476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538E4A-67A7-45A7-1D14-7D1187941BBC}"/>
              </a:ext>
            </a:extLst>
          </p:cNvPr>
          <p:cNvSpPr txBox="1"/>
          <p:nvPr/>
        </p:nvSpPr>
        <p:spPr>
          <a:xfrm>
            <a:off x="1691321" y="2815710"/>
            <a:ext cx="5253004" cy="150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</a:pP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Усі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GPU-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атаки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на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ECDLP —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лише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Pollard rho</a:t>
            </a:r>
          </a:p>
          <a:p>
            <a:pPr lvl="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GPU-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реалізації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Bernstein–Lange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для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secp256k1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літературі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немає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CPU Bernstein–Lange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вже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на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порядок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швидший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за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GPU Pollard</a:t>
            </a:r>
          </a:p>
          <a:p>
            <a:pPr lvl="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</a:pP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Поєднання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алгоритму +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GPU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= </a:t>
            </a: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відкрите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дослідницьке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питання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515C6-4003-F435-09C5-881B3959ECF8}"/>
              </a:ext>
            </a:extLst>
          </p:cNvPr>
          <p:cNvSpPr txBox="1"/>
          <p:nvPr/>
        </p:nvSpPr>
        <p:spPr>
          <a:xfrm>
            <a:off x="3045336" y="2433682"/>
            <a:ext cx="1635369" cy="382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</a:pPr>
            <a:r>
              <a:rPr lang="uk-U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Наявні прогалини</a:t>
            </a:r>
            <a:endParaRPr lang="en-US" sz="14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AE9103-2450-8874-6950-430D56E19BEA}"/>
              </a:ext>
            </a:extLst>
          </p:cNvPr>
          <p:cNvCxnSpPr/>
          <p:nvPr/>
        </p:nvCxnSpPr>
        <p:spPr>
          <a:xfrm>
            <a:off x="4936481" y="2218859"/>
            <a:ext cx="0" cy="596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02A0F9-05D7-2066-8E81-2B282169BEA2}"/>
              </a:ext>
            </a:extLst>
          </p:cNvPr>
          <p:cNvCxnSpPr/>
          <p:nvPr/>
        </p:nvCxnSpPr>
        <p:spPr>
          <a:xfrm>
            <a:off x="2659007" y="2218859"/>
            <a:ext cx="0" cy="596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</a:t>
            </a:r>
            <a:endParaRPr sz="3200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C96E5-C6E0-C585-516E-9D0465F56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99659" y="4048172"/>
            <a:ext cx="755374" cy="62265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CC5B2E-9F92-D524-B6A4-EFE85B163988}"/>
              </a:ext>
            </a:extLst>
          </p:cNvPr>
          <p:cNvSpPr txBox="1"/>
          <p:nvPr/>
        </p:nvSpPr>
        <p:spPr>
          <a:xfrm>
            <a:off x="311700" y="911565"/>
            <a:ext cx="3480183" cy="2849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</a:pPr>
            <a:r>
              <a:rPr lang="uk-UA" b="1" dirty="0">
                <a:latin typeface="Calibri" panose="020F0502020204030204" pitchFamily="34" charset="0"/>
                <a:ea typeface="Calibri" panose="020F0502020204030204" pitchFamily="34" charset="0"/>
              </a:rPr>
              <a:t>Проблема</a:t>
            </a:r>
            <a:endParaRPr lang="uk-UA" sz="14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Крив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secp256k1: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знайти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k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для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 =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kG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Наукова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задача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дослідити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можливість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GPU-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адаптації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Bernstein–Lange</a:t>
            </a:r>
          </a:p>
          <a:p>
            <a:pPr marL="342900" lvl="0" indent="-3429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Науково-технічна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реалізувати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CUDA-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версію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+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порівняти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Pollard rho</a:t>
            </a:r>
          </a:p>
          <a:p>
            <a:pPr marL="342900" lvl="0" indent="-3429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Знайти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баланс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між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prep-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фазою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таблиця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та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main-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фазою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2A6896-C971-DE6C-ECC7-003226B0155E}"/>
              </a:ext>
            </a:extLst>
          </p:cNvPr>
          <p:cNvSpPr txBox="1"/>
          <p:nvPr/>
        </p:nvSpPr>
        <p:spPr>
          <a:xfrm>
            <a:off x="4572000" y="979899"/>
            <a:ext cx="4348266" cy="2469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uk-U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Очікувані результати</a:t>
            </a:r>
          </a:p>
          <a:p>
            <a:pPr marL="342900" lvl="0" indent="-3429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uk-UA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Робоча реалізація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GPU </a:t>
            </a:r>
            <a:r>
              <a:rPr lang="uk-UA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+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Bernstein–Lange</a:t>
            </a:r>
          </a:p>
          <a:p>
            <a:pPr marL="342900" lvl="0" indent="-3429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Вимірювання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часу для 64- і 72-бітних </a:t>
            </a: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секретів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Коефіцієнти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прискорення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GPU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/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CPU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та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BL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/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ρ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-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Pollard</a:t>
            </a:r>
          </a:p>
          <a:p>
            <a:pPr marL="342900" lvl="0" indent="-3429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Виявлення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вузьких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місць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GPU-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паралелізації</a:t>
            </a:r>
            <a:endParaRPr lang="uk-U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uk-UA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Безпекова оцінка для реальних можливостей та кейсів – 256-бітний секрет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Інструментарій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4549154" y="3345150"/>
            <a:ext cx="4089506" cy="12022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r">
              <a:lnSpc>
                <a:spcPct val="150000"/>
              </a:lnSpc>
              <a:buNone/>
            </a:pPr>
            <a:r>
              <a:rPr lang="en-US" sz="1400" b="1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Hardware </a:t>
            </a:r>
            <a:r>
              <a:rPr lang="ru-RU" sz="1400" b="1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частина</a:t>
            </a:r>
            <a:endParaRPr lang="en-US" sz="1400" b="1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 algn="r">
              <a:lnSpc>
                <a:spcPct val="150000"/>
              </a:lnSpc>
              <a:buNone/>
            </a:pP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CPU: Apple M3 Max, 30 </a:t>
            </a:r>
            <a:r>
              <a:rPr lang="en-US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потоків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4050 </a:t>
            </a:r>
            <a:r>
              <a:rPr lang="en-US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МГц</a:t>
            </a:r>
            <a:endParaRPr lang="en-US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 algn="r">
              <a:lnSpc>
                <a:spcPct val="150000"/>
              </a:lnSpc>
              <a:buNone/>
            </a:pP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GPU: 2× NVIDIA RTX 4090 </a:t>
            </a:r>
            <a:r>
              <a:rPr lang="en-US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хмарі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Vast.ai</a:t>
            </a:r>
            <a:endParaRPr sz="1400" dirty="0">
              <a:solidFill>
                <a:srgbClr val="0D0D0D"/>
              </a:solidFill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500"/>
              </a:spcBef>
              <a:spcAft>
                <a:spcPts val="1200"/>
              </a:spcAft>
              <a:buNone/>
            </a:pPr>
            <a:endParaRPr lang="en-US" sz="1400"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4" name="Picture 3" descr="A hexagon with a white letter and plus symbol&#10;&#10;AI-generated content may be incorrect.">
            <a:extLst>
              <a:ext uri="{FF2B5EF4-FFF2-40B4-BE49-F238E27FC236}">
                <a16:creationId xmlns:a16="http://schemas.microsoft.com/office/drawing/2014/main" id="{914B2DFC-8E5B-585B-C65A-1EAA3FA0D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730" y="1211603"/>
            <a:ext cx="648233" cy="648233"/>
          </a:xfrm>
          <a:prstGeom prst="rect">
            <a:avLst/>
          </a:prstGeom>
        </p:spPr>
      </p:pic>
      <p:pic>
        <p:nvPicPr>
          <p:cNvPr id="6" name="Picture 5" descr="A green and black logo&#10;&#10;AI-generated content may be incorrect.">
            <a:extLst>
              <a:ext uri="{FF2B5EF4-FFF2-40B4-BE49-F238E27FC236}">
                <a16:creationId xmlns:a16="http://schemas.microsoft.com/office/drawing/2014/main" id="{7AD95747-0B4A-1271-9734-450B8F7F7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618" y="1292665"/>
            <a:ext cx="968175" cy="968175"/>
          </a:xfrm>
          <a:prstGeom prst="rect">
            <a:avLst/>
          </a:prstGeom>
        </p:spPr>
      </p:pic>
      <p:pic>
        <p:nvPicPr>
          <p:cNvPr id="8" name="Picture 7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8E46881-F9DE-02B0-F701-A64385C20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5202" y="1892709"/>
            <a:ext cx="577880" cy="577880"/>
          </a:xfrm>
          <a:prstGeom prst="rect">
            <a:avLst/>
          </a:prstGeom>
        </p:spPr>
      </p:pic>
      <p:pic>
        <p:nvPicPr>
          <p:cNvPr id="10" name="Picture 9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D6A9E3DB-2AC6-F49E-2D96-220A9B622A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363" y="1462532"/>
            <a:ext cx="648233" cy="648233"/>
          </a:xfrm>
          <a:prstGeom prst="rect">
            <a:avLst/>
          </a:prstGeom>
        </p:spPr>
      </p:pic>
      <p:pic>
        <p:nvPicPr>
          <p:cNvPr id="14" name="Picture 13" descr="A logo with a green and black text&#10;&#10;AI-generated content may be incorrect.">
            <a:extLst>
              <a:ext uri="{FF2B5EF4-FFF2-40B4-BE49-F238E27FC236}">
                <a16:creationId xmlns:a16="http://schemas.microsoft.com/office/drawing/2014/main" id="{58E0B68C-1B6B-F8A9-9405-5BCD2849EC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2381" y="283443"/>
            <a:ext cx="1572669" cy="884627"/>
          </a:xfrm>
          <a:prstGeom prst="rect">
            <a:avLst/>
          </a:prstGeom>
        </p:spPr>
      </p:pic>
      <p:pic>
        <p:nvPicPr>
          <p:cNvPr id="16" name="Picture 15" descr="A blue logo with a whale&#10;&#10;AI-generated content may be incorrect.">
            <a:extLst>
              <a:ext uri="{FF2B5EF4-FFF2-40B4-BE49-F238E27FC236}">
                <a16:creationId xmlns:a16="http://schemas.microsoft.com/office/drawing/2014/main" id="{A101C644-71B7-9136-BB9D-4D5CA3A4D3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7161" y="532008"/>
            <a:ext cx="1489541" cy="8378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5C99848-CFF9-51D1-4383-760515928E23}"/>
              </a:ext>
            </a:extLst>
          </p:cNvPr>
          <p:cNvSpPr txBox="1"/>
          <p:nvPr/>
        </p:nvSpPr>
        <p:spPr>
          <a:xfrm>
            <a:off x="319611" y="711164"/>
            <a:ext cx="4572000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</a:t>
            </a:r>
            <a:r>
              <a:rPr lang="ru-RU" b="1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частина</a:t>
            </a:r>
            <a:endParaRPr lang="ru-RU" b="1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Мови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C++ (CPU)</a:t>
            </a:r>
            <a:r>
              <a:rPr lang="ru-RU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C++ / CUDA (GPU)</a:t>
            </a:r>
            <a:r>
              <a:rPr lang="ru-RU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Rust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Бібліотеки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libsecp256k1, GMP 6.3.0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CUDA Toolkit</a:t>
            </a:r>
            <a:r>
              <a:rPr lang="ru-RU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12.2, алгоритм </a:t>
            </a:r>
            <a:r>
              <a:rPr lang="ru-RU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Монтгомері</a:t>
            </a:r>
            <a:r>
              <a:rPr lang="ru-RU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для модульного </a:t>
            </a:r>
            <a:r>
              <a:rPr lang="ru-RU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множення</a:t>
            </a:r>
            <a:endParaRPr lang="en-US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Сховище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LevelDB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+ PostgreSQL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Docker (</a:t>
            </a: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nvidia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/cuda:13.2.0) </a:t>
            </a: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відтворюваності</a:t>
            </a:r>
            <a:endParaRPr lang="en-US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4" name="Picture 23" descr="A white letter in a black square&#10;&#10;AI-generated content may be incorrect.">
            <a:extLst>
              <a:ext uri="{FF2B5EF4-FFF2-40B4-BE49-F238E27FC236}">
                <a16:creationId xmlns:a16="http://schemas.microsoft.com/office/drawing/2014/main" id="{7B2636A9-A787-FD0E-9240-BBE640C89B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6854" y="3309983"/>
            <a:ext cx="1390447" cy="1390447"/>
          </a:xfrm>
          <a:prstGeom prst="rect">
            <a:avLst/>
          </a:prstGeom>
        </p:spPr>
      </p:pic>
      <p:pic>
        <p:nvPicPr>
          <p:cNvPr id="27" name="Picture 26" descr="A purple square with white text&#10;&#10;AI-generated content may be incorrect.">
            <a:extLst>
              <a:ext uri="{FF2B5EF4-FFF2-40B4-BE49-F238E27FC236}">
                <a16:creationId xmlns:a16="http://schemas.microsoft.com/office/drawing/2014/main" id="{CE33E443-3141-D108-8B60-3A1096A411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0030" y="3404066"/>
            <a:ext cx="2136684" cy="1202283"/>
          </a:xfrm>
          <a:prstGeom prst="rect">
            <a:avLst/>
          </a:prstGeom>
        </p:spPr>
      </p:pic>
      <p:pic>
        <p:nvPicPr>
          <p:cNvPr id="29" name="Picture 28" descr="A blue elephant with white outline&#10;&#10;AI-generated content may be incorrect.">
            <a:extLst>
              <a:ext uri="{FF2B5EF4-FFF2-40B4-BE49-F238E27FC236}">
                <a16:creationId xmlns:a16="http://schemas.microsoft.com/office/drawing/2014/main" id="{D2C54DBF-CB28-B885-26F7-C5ECA9ED9E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5164" y="2492995"/>
            <a:ext cx="602671" cy="621505"/>
          </a:xfrm>
          <a:prstGeom prst="rect">
            <a:avLst/>
          </a:prstGeom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6B3D95C-EFBD-C6D8-0BF0-3749E9016D7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1716" y="2260840"/>
            <a:ext cx="677091" cy="6770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software project&#10;&#10;AI-generated content may be incorrect.">
            <a:extLst>
              <a:ext uri="{FF2B5EF4-FFF2-40B4-BE49-F238E27FC236}">
                <a16:creationId xmlns:a16="http://schemas.microsoft.com/office/drawing/2014/main" id="{F28BD056-1911-85E4-7FED-B3E8B10F5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78" y="1232146"/>
            <a:ext cx="7175663" cy="3774761"/>
          </a:xfrm>
          <a:prstGeom prst="rect">
            <a:avLst/>
          </a:prstGeom>
        </p:spPr>
      </p:pic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систем</a:t>
            </a:r>
            <a:r>
              <a:rPr lang="en-US" sz="3200" dirty="0" err="1"/>
              <a:t>и</a:t>
            </a:r>
            <a:r>
              <a:rPr lang="uk" sz="3200" dirty="0"/>
              <a:t> для проведення експериментального дослідження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215C45-19B7-D128-0F21-2B359868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-1040397" y="3313302"/>
            <a:ext cx="382038" cy="160691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uk" sz="3200" dirty="0"/>
              <a:t>Опис програмного забезпечення, </a:t>
            </a:r>
            <a:r>
              <a:rPr lang="uk-UA" sz="3200" dirty="0"/>
              <a:t>що було розроблено для проведення дослідження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4771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lnSpc>
                <a:spcPct val="150000"/>
              </a:lnSpc>
              <a:buNone/>
            </a:pPr>
            <a:r>
              <a:rPr lang="ru-RU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ПЗ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1: CPU </a:t>
            </a:r>
            <a:r>
              <a:rPr lang="ru-RU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реалізація</a:t>
            </a:r>
            <a:r>
              <a:rPr lang="ru-RU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Pollard rho 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uk-UA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ПЗ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</a:t>
            </a:r>
            <a:r>
              <a:rPr lang="uk-UA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Підбір найефективніших констант 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N, W, R, </a:t>
            </a: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</a:t>
            </a:r>
            <a:endParaRPr lang="uk-UA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50000"/>
              </a:lnSpc>
              <a:buNone/>
            </a:pPr>
            <a:r>
              <a:rPr lang="ru-RU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ПЗ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3: CPU </a:t>
            </a:r>
            <a:r>
              <a:rPr lang="ru-RU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реалізація</a:t>
            </a:r>
            <a:r>
              <a:rPr lang="ru-RU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Bernstein–Lange</a:t>
            </a:r>
            <a:endParaRPr lang="uk-UA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50000"/>
              </a:lnSpc>
              <a:buNone/>
            </a:pPr>
            <a:r>
              <a:rPr lang="ru-RU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ПЗ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4: GPU</a:t>
            </a:r>
            <a:r>
              <a:rPr lang="uk-UA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адаптація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обох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алгоритмів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CUDA</a:t>
            </a:r>
            <a:endParaRPr lang="ru-RU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lnSpc>
                <a:spcPct val="150000"/>
              </a:lnSpc>
              <a:buNone/>
            </a:pPr>
            <a:r>
              <a:rPr lang="uk-UA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ПЗ </a:t>
            </a:r>
            <a:r>
              <a:rPr lang="en-US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r>
              <a:rPr lang="uk-UA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веб застосунок</a:t>
            </a:r>
            <a:endParaRPr lang="en-US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Зміст проведеного експерименту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68925" y="1022410"/>
            <a:ext cx="3418636" cy="15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1200" b="1" dirty="0" err="1"/>
              <a:t>Методи</a:t>
            </a:r>
            <a:endParaRPr lang="en-US" sz="1200" dirty="0"/>
          </a:p>
          <a:p>
            <a:pPr marL="114300" lvl="0" indent="0">
              <a:buNone/>
            </a:pPr>
            <a:r>
              <a:rPr lang="en-US" sz="1200" dirty="0" err="1"/>
              <a:t>Чотирьохстороннє</a:t>
            </a:r>
            <a:r>
              <a:rPr lang="en-US" sz="1200" dirty="0"/>
              <a:t> </a:t>
            </a:r>
            <a:r>
              <a:rPr lang="en-US" sz="1200" dirty="0" err="1"/>
              <a:t>порівняння</a:t>
            </a:r>
            <a:r>
              <a:rPr lang="en-US" sz="1200" dirty="0"/>
              <a:t>: CPU/GPU × Pollard / Bernstein–Lange</a:t>
            </a:r>
            <a:r>
              <a:rPr lang="uk-UA" sz="1200" dirty="0"/>
              <a:t> (</a:t>
            </a:r>
            <a:r>
              <a:rPr lang="en-US" sz="1200" dirty="0"/>
              <a:t>BL</a:t>
            </a:r>
            <a:r>
              <a:rPr lang="uk-UA" sz="1200" dirty="0"/>
              <a:t>)</a:t>
            </a:r>
          </a:p>
          <a:p>
            <a:pPr marL="114300" lvl="0" indent="0">
              <a:buNone/>
            </a:pPr>
            <a:endParaRPr lang="en-US" sz="1200" dirty="0"/>
          </a:p>
          <a:p>
            <a:pPr marL="114300" lvl="0" indent="0">
              <a:buNone/>
            </a:pPr>
            <a:r>
              <a:rPr lang="ru-RU" sz="1200" dirty="0" err="1"/>
              <a:t>Окремо</a:t>
            </a:r>
            <a:r>
              <a:rPr lang="ru-RU" sz="1200" dirty="0"/>
              <a:t> «</a:t>
            </a:r>
            <a:r>
              <a:rPr lang="ru-RU" sz="1200" dirty="0" err="1"/>
              <a:t>холодний</a:t>
            </a:r>
            <a:r>
              <a:rPr lang="ru-RU" sz="1200" dirty="0"/>
              <a:t>» і «</a:t>
            </a:r>
            <a:r>
              <a:rPr lang="ru-RU" sz="1200" dirty="0" err="1"/>
              <a:t>теплий</a:t>
            </a:r>
            <a:r>
              <a:rPr lang="ru-RU" sz="1200" dirty="0"/>
              <a:t>» старт </a:t>
            </a:r>
            <a:r>
              <a:rPr lang="en-US" sz="1200" dirty="0"/>
              <a:t>BL</a:t>
            </a:r>
            <a:r>
              <a:rPr lang="uk-UA" sz="1200" dirty="0"/>
              <a:t> (без </a:t>
            </a:r>
            <a:r>
              <a:rPr lang="uk-UA" sz="1200" dirty="0" err="1"/>
              <a:t>дозаповненя</a:t>
            </a:r>
            <a:r>
              <a:rPr lang="uk-UA" sz="1200" dirty="0"/>
              <a:t> таблиці або – з)</a:t>
            </a:r>
            <a:endParaRPr lang="en-US" sz="1200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28767-64F7-31EF-DD51-800A7A0031A9}"/>
              </a:ext>
            </a:extLst>
          </p:cNvPr>
          <p:cNvSpPr txBox="1"/>
          <p:nvPr/>
        </p:nvSpPr>
        <p:spPr>
          <a:xfrm>
            <a:off x="4572000" y="1022410"/>
            <a:ext cx="4010571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uk-U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Вхідні дані</a:t>
            </a: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Фіксовані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.bin-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файли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від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secrets-generator</a:t>
            </a:r>
          </a:p>
          <a:p>
            <a:pPr lvl="0" algn="just">
              <a:spcBef>
                <a:spcPts val="150"/>
              </a:spcBef>
              <a:spcAft>
                <a:spcPts val="150"/>
              </a:spcAft>
            </a:pP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Секрети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64 та 72 </a:t>
            </a: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біти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криптографічно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стійкий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ГВЧ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Відкриті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ключі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=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kG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на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secp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256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JSON-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конфігурації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</a:t>
            </a:r>
            <a:r>
              <a:rPr lang="uk-UA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параметри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N, W, R, m,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A366D-2F3E-6040-1068-D139A627D3D4}"/>
              </a:ext>
            </a:extLst>
          </p:cNvPr>
          <p:cNvSpPr txBox="1"/>
          <p:nvPr/>
        </p:nvSpPr>
        <p:spPr>
          <a:xfrm>
            <a:off x="390419" y="2874687"/>
            <a:ext cx="3418636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uk-U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Критерії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Основний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середній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час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main-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фази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Додаткові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час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prep-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фази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мін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/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макс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час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розмір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таблиці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Прискорення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GPU/CPU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та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BL/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ρ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-Pollard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B4B49-F1C3-9C92-2039-941F3D0A4A22}"/>
              </a:ext>
            </a:extLst>
          </p:cNvPr>
          <p:cNvSpPr txBox="1"/>
          <p:nvPr/>
        </p:nvSpPr>
        <p:spPr>
          <a:xfrm>
            <a:off x="4572000" y="2874687"/>
            <a:ext cx="4066842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uk-U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Послідовність та вимірювання</a:t>
            </a: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Підготовка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інфраструктури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+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верифікація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2.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Базові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вимірювання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CPU</a:t>
            </a: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3. GPU-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вимірювання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динамічним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дозаповненням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>
              <a:spcBef>
                <a:spcPts val="150"/>
              </a:spcBef>
              <a:spcAft>
                <a:spcPts val="15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4.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Аналіз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результатів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5A025244-CA70-5AFD-E433-BD86FA8E5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BD68A7E5-CF7D-D98B-AF35-D3A4CC279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Приклад коду</a:t>
            </a:r>
            <a:endParaRPr sz="3200" dirty="0"/>
          </a:p>
        </p:txBody>
      </p:sp>
      <p:pic>
        <p:nvPicPr>
          <p:cNvPr id="115" name="Google Shape;115;p20">
            <a:extLst>
              <a:ext uri="{FF2B5EF4-FFF2-40B4-BE49-F238E27FC236}">
                <a16:creationId xmlns:a16="http://schemas.microsoft.com/office/drawing/2014/main" id="{18F282E5-7A1D-E5B5-1F6E-178F2A33ED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8377B7-7CB2-409F-875D-CF3CE74CB9F3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943E8B-A90A-B60B-C6D0-00EA553BC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42782"/>
            <a:ext cx="4172836" cy="3354000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ru-RU" b="1" dirty="0"/>
              <a:t>__</a:t>
            </a:r>
            <a:r>
              <a:rPr lang="en-US" b="1" dirty="0"/>
              <a:t>global</a:t>
            </a:r>
            <a:r>
              <a:rPr lang="ru-RU" b="1" dirty="0"/>
              <a:t>__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void solve</a:t>
            </a:r>
            <a:r>
              <a:rPr lang="ru-RU" b="1" dirty="0"/>
              <a:t>_</a:t>
            </a:r>
            <a:r>
              <a:rPr lang="en-US" b="1" dirty="0"/>
              <a:t>kernel</a:t>
            </a:r>
            <a:r>
              <a:rPr lang="ru-RU" b="1" dirty="0"/>
              <a:t>(</a:t>
            </a:r>
            <a:endParaRPr lang="en-US" dirty="0"/>
          </a:p>
          <a:p>
            <a:pPr marL="114300" indent="0">
              <a:buNone/>
            </a:pPr>
            <a:r>
              <a:rPr lang="ru-RU" b="1" dirty="0"/>
              <a:t>        </a:t>
            </a:r>
            <a:r>
              <a:rPr lang="en-US" b="1" dirty="0"/>
              <a:t>const U256*        </a:t>
            </a:r>
            <a:r>
              <a:rPr lang="en-US" b="1" dirty="0" err="1"/>
              <a:t>d_slog</a:t>
            </a:r>
            <a:r>
              <a:rPr lang="en-US" b="1" dirty="0"/>
              <a:t>,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    const </a:t>
            </a:r>
            <a:r>
              <a:rPr lang="en-US" b="1" dirty="0" err="1"/>
              <a:t>AffinePoint</a:t>
            </a:r>
            <a:r>
              <a:rPr lang="en-US" b="1" dirty="0"/>
              <a:t>* </a:t>
            </a:r>
            <a:r>
              <a:rPr lang="en-US" b="1" dirty="0" err="1"/>
              <a:t>d_s</a:t>
            </a:r>
            <a:r>
              <a:rPr lang="en-US" b="1" dirty="0"/>
              <a:t>,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    long               R,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    long               W,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    int                </a:t>
            </a:r>
            <a:r>
              <a:rPr lang="en-US" b="1" dirty="0" err="1"/>
              <a:t>secret_size</a:t>
            </a:r>
            <a:r>
              <a:rPr lang="en-US" b="1" dirty="0"/>
              <a:t>,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    long               </a:t>
            </a:r>
            <a:r>
              <a:rPr lang="en-US" b="1" dirty="0" err="1"/>
              <a:t>steps_per_restart</a:t>
            </a:r>
            <a:r>
              <a:rPr lang="en-US" b="1" dirty="0"/>
              <a:t>,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AffinePoint</a:t>
            </a:r>
            <a:r>
              <a:rPr lang="en-US" b="1" dirty="0"/>
              <a:t>        H,</a:t>
            </a:r>
            <a:r>
              <a:rPr lang="en-US" b="1" i="1" dirty="0"/>
              <a:t>               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DPRecord</a:t>
            </a:r>
            <a:r>
              <a:rPr lang="en-US" b="1" dirty="0"/>
              <a:t>*          </a:t>
            </a:r>
            <a:r>
              <a:rPr lang="en-US" b="1" dirty="0" err="1"/>
              <a:t>d_out</a:t>
            </a:r>
            <a:r>
              <a:rPr lang="en-US" b="1" dirty="0"/>
              <a:t>,</a:t>
            </a:r>
            <a:r>
              <a:rPr lang="en-US" b="1" i="1" dirty="0"/>
              <a:t>           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    int*               </a:t>
            </a:r>
            <a:r>
              <a:rPr lang="en-US" b="1" dirty="0" err="1"/>
              <a:t>d_out_count</a:t>
            </a:r>
            <a:r>
              <a:rPr lang="en-US" b="1" dirty="0"/>
              <a:t>,</a:t>
            </a:r>
            <a:r>
              <a:rPr lang="en-US" b="1" i="1" dirty="0"/>
              <a:t>     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    int                </a:t>
            </a:r>
            <a:r>
              <a:rPr lang="en-US" b="1" dirty="0" err="1"/>
              <a:t>out_capacity</a:t>
            </a:r>
            <a:r>
              <a:rPr lang="en-US" b="1" dirty="0"/>
              <a:t>,</a:t>
            </a:r>
            <a:r>
              <a:rPr lang="en-US" b="1" i="1" dirty="0"/>
              <a:t>    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    int*               </a:t>
            </a:r>
            <a:r>
              <a:rPr lang="en-US" b="1" dirty="0" err="1"/>
              <a:t>d_stop</a:t>
            </a:r>
            <a:r>
              <a:rPr lang="en-US" b="1" dirty="0"/>
              <a:t>,</a:t>
            </a:r>
            <a:r>
              <a:rPr lang="en-US" b="1" i="1" dirty="0"/>
              <a:t>          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    uint64_t           </a:t>
            </a:r>
            <a:r>
              <a:rPr lang="en-US" b="1" dirty="0" err="1"/>
              <a:t>rng_seed</a:t>
            </a:r>
            <a:r>
              <a:rPr lang="en-US" b="1" dirty="0"/>
              <a:t>)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{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int </a:t>
            </a:r>
            <a:r>
              <a:rPr lang="en-US" b="1" dirty="0" err="1"/>
              <a:t>tid</a:t>
            </a:r>
            <a:r>
              <a:rPr lang="en-US" b="1" dirty="0"/>
              <a:t> = </a:t>
            </a:r>
            <a:r>
              <a:rPr lang="en-US" b="1" dirty="0" err="1"/>
              <a:t>blockIdx.x</a:t>
            </a:r>
            <a:r>
              <a:rPr lang="en-US" b="1" dirty="0"/>
              <a:t> * </a:t>
            </a:r>
            <a:r>
              <a:rPr lang="en-US" b="1" dirty="0" err="1"/>
              <a:t>blockDim.x</a:t>
            </a:r>
            <a:r>
              <a:rPr lang="en-US" b="1" dirty="0"/>
              <a:t> + </a:t>
            </a:r>
            <a:r>
              <a:rPr lang="en-US" b="1" dirty="0" err="1"/>
              <a:t>threadIdx.x</a:t>
            </a:r>
            <a:r>
              <a:rPr lang="en-US" b="1" dirty="0"/>
              <a:t>;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</a:t>
            </a:r>
            <a:r>
              <a:rPr lang="en-US" b="1" dirty="0" err="1"/>
              <a:t>XoshiroState</a:t>
            </a:r>
            <a:r>
              <a:rPr lang="en-US" b="1" dirty="0"/>
              <a:t> </a:t>
            </a:r>
            <a:r>
              <a:rPr lang="en-US" b="1" dirty="0" err="1"/>
              <a:t>rng</a:t>
            </a:r>
            <a:r>
              <a:rPr lang="en-US" b="1" dirty="0"/>
              <a:t>;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</a:t>
            </a:r>
            <a:r>
              <a:rPr lang="en-US" b="1" dirty="0" err="1"/>
              <a:t>rng.s</a:t>
            </a:r>
            <a:r>
              <a:rPr lang="en-US" b="1" dirty="0"/>
              <a:t>[0] = </a:t>
            </a:r>
            <a:r>
              <a:rPr lang="en-US" b="1" dirty="0" err="1"/>
              <a:t>rng_seed</a:t>
            </a:r>
            <a:r>
              <a:rPr lang="en-US" b="1" dirty="0"/>
              <a:t> ^ (uint64_t)</a:t>
            </a:r>
            <a:r>
              <a:rPr lang="en-US" b="1" dirty="0" err="1"/>
              <a:t>tid</a:t>
            </a:r>
            <a:r>
              <a:rPr lang="en-US" b="1" dirty="0"/>
              <a:t> * 1442695040888963407ULL;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</a:t>
            </a:r>
            <a:r>
              <a:rPr lang="en-US" b="1" dirty="0" err="1"/>
              <a:t>rng.s</a:t>
            </a:r>
            <a:r>
              <a:rPr lang="en-US" b="1" dirty="0"/>
              <a:t>[1] = </a:t>
            </a:r>
            <a:r>
              <a:rPr lang="en-US" b="1" dirty="0" err="1"/>
              <a:t>rng_seed</a:t>
            </a:r>
            <a:r>
              <a:rPr lang="en-US" b="1" dirty="0"/>
              <a:t> ^ (uint64_t)</a:t>
            </a:r>
            <a:r>
              <a:rPr lang="en-US" b="1" dirty="0" err="1"/>
              <a:t>tid</a:t>
            </a:r>
            <a:r>
              <a:rPr lang="en-US" b="1" dirty="0"/>
              <a:t> * 6364136223846793005ULL;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</a:t>
            </a:r>
            <a:r>
              <a:rPr lang="en-US" b="1" dirty="0" err="1"/>
              <a:t>rng.s</a:t>
            </a:r>
            <a:r>
              <a:rPr lang="en-US" b="1" dirty="0"/>
              <a:t>[2] = ~</a:t>
            </a:r>
            <a:r>
              <a:rPr lang="en-US" b="1" dirty="0" err="1"/>
              <a:t>rng.s</a:t>
            </a:r>
            <a:r>
              <a:rPr lang="en-US" b="1" dirty="0"/>
              <a:t>[0];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</a:t>
            </a:r>
            <a:r>
              <a:rPr lang="en-US" b="1" dirty="0" err="1"/>
              <a:t>rng.s</a:t>
            </a:r>
            <a:r>
              <a:rPr lang="en-US" b="1" dirty="0"/>
              <a:t>[3] = ~</a:t>
            </a:r>
            <a:r>
              <a:rPr lang="en-US" b="1" dirty="0" err="1"/>
              <a:t>rng.s</a:t>
            </a:r>
            <a:r>
              <a:rPr lang="en-US" b="1" dirty="0"/>
              <a:t>[1];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    uint64_t </a:t>
            </a:r>
            <a:r>
              <a:rPr lang="en-US" b="1" dirty="0" err="1"/>
              <a:t>W_mask</a:t>
            </a:r>
            <a:r>
              <a:rPr lang="en-US" b="1" dirty="0"/>
              <a:t> = (uint64_t)(W - 1);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3C844A-D28C-2824-1FF0-E207DEB95041}"/>
              </a:ext>
            </a:extLst>
          </p:cNvPr>
          <p:cNvSpPr txBox="1"/>
          <p:nvPr/>
        </p:nvSpPr>
        <p:spPr>
          <a:xfrm>
            <a:off x="4572000" y="726983"/>
            <a:ext cx="457200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1100" b="1" dirty="0"/>
              <a:t> </a:t>
            </a:r>
            <a:r>
              <a:rPr lang="en-US" sz="900" b="1" dirty="0"/>
              <a:t>while (!(*</a:t>
            </a:r>
            <a:r>
              <a:rPr lang="en-US" sz="900" b="1" dirty="0" err="1"/>
              <a:t>d_stop</a:t>
            </a:r>
            <a:r>
              <a:rPr lang="en-US" sz="900" b="1" dirty="0"/>
              <a:t>)) {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U256 </a:t>
            </a:r>
            <a:r>
              <a:rPr lang="en-US" sz="900" b="1" dirty="0" err="1"/>
              <a:t>wdist</a:t>
            </a:r>
            <a:r>
              <a:rPr lang="en-US" sz="900" b="1" dirty="0"/>
              <a:t> = </a:t>
            </a:r>
            <a:r>
              <a:rPr lang="en-US" sz="900" b="1" dirty="0" err="1"/>
              <a:t>random_scalar_dev</a:t>
            </a:r>
            <a:r>
              <a:rPr lang="en-US" sz="900" b="1" dirty="0"/>
              <a:t>(</a:t>
            </a:r>
            <a:r>
              <a:rPr lang="en-US" sz="900" b="1" dirty="0" err="1"/>
              <a:t>rng</a:t>
            </a:r>
            <a:r>
              <a:rPr lang="en-US" sz="900" b="1" dirty="0"/>
              <a:t>, </a:t>
            </a:r>
            <a:r>
              <a:rPr lang="en-US" sz="900" b="1" dirty="0" err="1"/>
              <a:t>secret_size</a:t>
            </a:r>
            <a:r>
              <a:rPr lang="en-US" sz="900" b="1" dirty="0"/>
              <a:t> - 16);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</a:t>
            </a:r>
            <a:r>
              <a:rPr lang="en-US" sz="900" b="1" dirty="0" err="1"/>
              <a:t>AffinePoint</a:t>
            </a:r>
            <a:r>
              <a:rPr lang="en-US" sz="900" b="1" dirty="0"/>
              <a:t> w = </a:t>
            </a:r>
            <a:r>
              <a:rPr lang="en-US" sz="900" b="1" dirty="0" err="1"/>
              <a:t>ec_add</a:t>
            </a:r>
            <a:r>
              <a:rPr lang="en-US" sz="900" b="1" dirty="0"/>
              <a:t>(H, </a:t>
            </a:r>
            <a:r>
              <a:rPr lang="en-US" sz="900" b="1" dirty="0" err="1"/>
              <a:t>scalar_mul_G_dev</a:t>
            </a:r>
            <a:r>
              <a:rPr lang="en-US" sz="900" b="1" dirty="0"/>
              <a:t>(</a:t>
            </a:r>
            <a:r>
              <a:rPr lang="en-US" sz="900" b="1" dirty="0" err="1"/>
              <a:t>wdist</a:t>
            </a:r>
            <a:r>
              <a:rPr lang="en-US" sz="900" b="1" dirty="0"/>
              <a:t>));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 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for (long step = 0; 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step &lt; </a:t>
            </a:r>
            <a:r>
              <a:rPr lang="en-US" sz="900" b="1" dirty="0" err="1"/>
              <a:t>steps_per_restart</a:t>
            </a:r>
            <a:r>
              <a:rPr lang="en-US" sz="900" b="1" dirty="0"/>
              <a:t> &amp;&amp; !(*</a:t>
            </a:r>
            <a:r>
              <a:rPr lang="en-US" sz="900" b="1" dirty="0" err="1"/>
              <a:t>d_stop</a:t>
            </a:r>
            <a:r>
              <a:rPr lang="en-US" sz="900" b="1" dirty="0"/>
              <a:t>); ++step) {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  if (</a:t>
            </a:r>
            <a:r>
              <a:rPr lang="en-US" sz="900" b="1" dirty="0" err="1"/>
              <a:t>is_distinguished_dev</a:t>
            </a:r>
            <a:r>
              <a:rPr lang="en-US" sz="900" b="1" dirty="0"/>
              <a:t>(w, </a:t>
            </a:r>
            <a:r>
              <a:rPr lang="en-US" sz="900" b="1" dirty="0" err="1"/>
              <a:t>W_mask</a:t>
            </a:r>
            <a:r>
              <a:rPr lang="en-US" sz="900" b="1" dirty="0"/>
              <a:t>)) {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Int slot = </a:t>
            </a:r>
            <a:r>
              <a:rPr lang="en-US" sz="900" b="1" dirty="0" err="1"/>
              <a:t>atomicAdd</a:t>
            </a:r>
            <a:r>
              <a:rPr lang="en-US" sz="900" b="1" dirty="0"/>
              <a:t>(</a:t>
            </a:r>
            <a:r>
              <a:rPr lang="en-US" sz="900" b="1" dirty="0" err="1"/>
              <a:t>d_out_count</a:t>
            </a:r>
            <a:r>
              <a:rPr lang="en-US" sz="900" b="1" dirty="0"/>
              <a:t>, 1) % </a:t>
            </a:r>
            <a:r>
              <a:rPr lang="en-US" sz="900" b="1" dirty="0" err="1"/>
              <a:t>out_capacity</a:t>
            </a:r>
            <a:r>
              <a:rPr lang="en-US" sz="900" b="1" dirty="0"/>
              <a:t>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      </a:t>
            </a:r>
            <a:r>
              <a:rPr lang="en-US" sz="900" b="1" dirty="0" err="1"/>
              <a:t>DPRecord</a:t>
            </a:r>
            <a:r>
              <a:rPr lang="en-US" sz="900" b="1" dirty="0"/>
              <a:t>&amp; rec = </a:t>
            </a:r>
            <a:r>
              <a:rPr lang="en-US" sz="900" b="1" dirty="0" err="1"/>
              <a:t>d_out</a:t>
            </a:r>
            <a:r>
              <a:rPr lang="en-US" sz="900" b="1" dirty="0"/>
              <a:t>[slot];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      </a:t>
            </a:r>
            <a:r>
              <a:rPr lang="en-US" sz="900" b="1" dirty="0" err="1"/>
              <a:t>point_to_compressed</a:t>
            </a:r>
            <a:r>
              <a:rPr lang="en-US" sz="900" b="1" dirty="0"/>
              <a:t>(w, </a:t>
            </a:r>
            <a:r>
              <a:rPr lang="en-US" sz="900" b="1" dirty="0" err="1"/>
              <a:t>rec.point_bytes</a:t>
            </a:r>
            <a:r>
              <a:rPr lang="en-US" sz="900" b="1" dirty="0"/>
              <a:t>);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      for (int </a:t>
            </a:r>
            <a:r>
              <a:rPr lang="en-US" sz="900" b="1" dirty="0" err="1"/>
              <a:t>i</a:t>
            </a:r>
            <a:r>
              <a:rPr lang="en-US" sz="900" b="1" dirty="0"/>
              <a:t>=0;i&lt;8;i++) {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 err="1"/>
              <a:t>rec.log_bytes</a:t>
            </a:r>
            <a:r>
              <a:rPr lang="en-US" sz="900" b="1" dirty="0"/>
              <a:t>[</a:t>
            </a:r>
            <a:r>
              <a:rPr lang="en-US" sz="900" b="1" dirty="0" err="1"/>
              <a:t>i</a:t>
            </a:r>
            <a:r>
              <a:rPr lang="en-US" sz="900" b="1" dirty="0"/>
              <a:t>*4]   = (</a:t>
            </a:r>
            <a:r>
              <a:rPr lang="en-US" sz="900" b="1" dirty="0" err="1"/>
              <a:t>wdist.d</a:t>
            </a:r>
            <a:r>
              <a:rPr lang="en-US" sz="900" b="1" dirty="0"/>
              <a:t>[</a:t>
            </a:r>
            <a:r>
              <a:rPr lang="en-US" sz="900" b="1" dirty="0" err="1"/>
              <a:t>i</a:t>
            </a:r>
            <a:r>
              <a:rPr lang="en-US" sz="900" b="1" dirty="0"/>
              <a:t>]&gt;&gt;24)&amp;0xFF;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 err="1"/>
              <a:t>rec.log_bytes</a:t>
            </a:r>
            <a:r>
              <a:rPr lang="en-US" sz="900" b="1" dirty="0"/>
              <a:t>[</a:t>
            </a:r>
            <a:r>
              <a:rPr lang="en-US" sz="900" b="1" dirty="0" err="1"/>
              <a:t>i</a:t>
            </a:r>
            <a:r>
              <a:rPr lang="en-US" sz="900" b="1" dirty="0"/>
              <a:t>*4+1] = (</a:t>
            </a:r>
            <a:r>
              <a:rPr lang="en-US" sz="900" b="1" dirty="0" err="1"/>
              <a:t>wdist.d</a:t>
            </a:r>
            <a:r>
              <a:rPr lang="en-US" sz="900" b="1" dirty="0"/>
              <a:t>[</a:t>
            </a:r>
            <a:r>
              <a:rPr lang="en-US" sz="900" b="1" dirty="0" err="1"/>
              <a:t>i</a:t>
            </a:r>
            <a:r>
              <a:rPr lang="en-US" sz="900" b="1" dirty="0"/>
              <a:t>]&gt;&gt;16)&amp;0xFF;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 err="1"/>
              <a:t>rec.log_bytes</a:t>
            </a:r>
            <a:r>
              <a:rPr lang="en-US" sz="900" b="1" dirty="0"/>
              <a:t>[</a:t>
            </a:r>
            <a:r>
              <a:rPr lang="en-US" sz="900" b="1" dirty="0" err="1"/>
              <a:t>i</a:t>
            </a:r>
            <a:r>
              <a:rPr lang="en-US" sz="900" b="1" dirty="0"/>
              <a:t>*4+2] = (</a:t>
            </a:r>
            <a:r>
              <a:rPr lang="en-US" sz="900" b="1" dirty="0" err="1"/>
              <a:t>wdist.d</a:t>
            </a:r>
            <a:r>
              <a:rPr lang="en-US" sz="900" b="1" dirty="0"/>
              <a:t>[</a:t>
            </a:r>
            <a:r>
              <a:rPr lang="en-US" sz="900" b="1" dirty="0" err="1"/>
              <a:t>i</a:t>
            </a:r>
            <a:r>
              <a:rPr lang="en-US" sz="900" b="1" dirty="0"/>
              <a:t>]&gt;&gt; 8)&amp;0xFF;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 err="1"/>
              <a:t>rec.log_bytes</a:t>
            </a:r>
            <a:r>
              <a:rPr lang="en-US" sz="900" b="1" dirty="0"/>
              <a:t>[</a:t>
            </a:r>
            <a:r>
              <a:rPr lang="en-US" sz="900" b="1" dirty="0" err="1"/>
              <a:t>i</a:t>
            </a:r>
            <a:r>
              <a:rPr lang="en-US" sz="900" b="1" dirty="0"/>
              <a:t>*4+3] = (</a:t>
            </a:r>
            <a:r>
              <a:rPr lang="en-US" sz="900" b="1" dirty="0" err="1"/>
              <a:t>wdist.d</a:t>
            </a:r>
            <a:r>
              <a:rPr lang="en-US" sz="900" b="1" dirty="0"/>
              <a:t>[</a:t>
            </a:r>
            <a:r>
              <a:rPr lang="en-US" sz="900" b="1" dirty="0" err="1"/>
              <a:t>i</a:t>
            </a:r>
            <a:r>
              <a:rPr lang="en-US" sz="900" b="1" dirty="0"/>
              <a:t>]    )&amp;0xFF;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      }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      </a:t>
            </a:r>
            <a:r>
              <a:rPr lang="en-US" sz="900" b="1" dirty="0" err="1"/>
              <a:t>rec.is_wild</a:t>
            </a:r>
            <a:r>
              <a:rPr lang="en-US" sz="900" b="1" dirty="0"/>
              <a:t> = true;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      break;</a:t>
            </a:r>
            <a:r>
              <a:rPr lang="en-US" sz="900" b="1" i="1" dirty="0"/>
              <a:t> 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  }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  int h = </a:t>
            </a:r>
            <a:r>
              <a:rPr lang="en-US" sz="900" b="1" dirty="0" err="1"/>
              <a:t>hash_pt_dev</a:t>
            </a:r>
            <a:r>
              <a:rPr lang="en-US" sz="900" b="1" dirty="0"/>
              <a:t>(w, R);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  </a:t>
            </a:r>
            <a:r>
              <a:rPr lang="en-US" sz="900" b="1" dirty="0" err="1"/>
              <a:t>wdist</a:t>
            </a:r>
            <a:r>
              <a:rPr lang="en-US" sz="900" b="1" dirty="0"/>
              <a:t> = </a:t>
            </a:r>
            <a:r>
              <a:rPr lang="en-US" sz="900" b="1" dirty="0" err="1"/>
              <a:t>scalar_add_dev</a:t>
            </a:r>
            <a:r>
              <a:rPr lang="en-US" sz="900" b="1" dirty="0"/>
              <a:t>(</a:t>
            </a:r>
            <a:r>
              <a:rPr lang="en-US" sz="900" b="1" dirty="0" err="1"/>
              <a:t>wdist</a:t>
            </a:r>
            <a:r>
              <a:rPr lang="en-US" sz="900" b="1" dirty="0"/>
              <a:t>, </a:t>
            </a:r>
            <a:r>
              <a:rPr lang="en-US" sz="900" b="1" dirty="0" err="1"/>
              <a:t>d_slog</a:t>
            </a:r>
            <a:r>
              <a:rPr lang="en-US" sz="900" b="1" dirty="0"/>
              <a:t>[h]);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    w     = </a:t>
            </a:r>
            <a:r>
              <a:rPr lang="en-US" sz="900" b="1" dirty="0" err="1"/>
              <a:t>ec_add</a:t>
            </a:r>
            <a:r>
              <a:rPr lang="en-US" sz="900" b="1" dirty="0"/>
              <a:t>(w, </a:t>
            </a:r>
            <a:r>
              <a:rPr lang="en-US" sz="900" b="1" dirty="0" err="1"/>
              <a:t>d_s</a:t>
            </a:r>
            <a:r>
              <a:rPr lang="en-US" sz="900" b="1" dirty="0"/>
              <a:t>[h]);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    }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    }</a:t>
            </a:r>
            <a:endParaRPr lang="en-US" sz="900" dirty="0"/>
          </a:p>
          <a:p>
            <a:pPr marL="114300" indent="0">
              <a:buNone/>
            </a:pPr>
            <a:r>
              <a:rPr lang="en-US" sz="900" b="1" dirty="0"/>
              <a:t>}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15272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Результати експерименту 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83253-C7E6-E8D4-B468-E0DAF7870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4869" y="5343222"/>
            <a:ext cx="8520600" cy="3354000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FA975-E86B-B159-020B-D0D63D2F4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" y="889000"/>
            <a:ext cx="7480300" cy="3365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604B0FE6-5B2C-184C-3437-B5964859F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F23EC02B-837C-0FB6-844D-A7DE4D9091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Результати експерименту 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C4AD42B7-EAD1-805B-19FE-4B052953B59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A62E09-E295-FFD0-22ED-87B79F2308F3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D9F4C-419F-77FF-AD08-5EF0EBB9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4869" y="5343222"/>
            <a:ext cx="8520600" cy="335400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92C0CB6-C9F4-F294-2504-053C9F311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27" t="7421" r="10292" b="4024"/>
          <a:stretch>
            <a:fillRect/>
          </a:stretch>
        </p:blipFill>
        <p:spPr>
          <a:xfrm>
            <a:off x="4413249" y="775334"/>
            <a:ext cx="4025901" cy="3984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FB860F-ED04-6629-966F-290908EC1674}"/>
              </a:ext>
            </a:extLst>
          </p:cNvPr>
          <p:cNvSpPr txBox="1"/>
          <p:nvPr/>
        </p:nvSpPr>
        <p:spPr>
          <a:xfrm>
            <a:off x="287019" y="997548"/>
            <a:ext cx="3787140" cy="3289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поточні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параметри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кривої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secp256k1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надійно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захищені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атак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із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застосуванням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алгоритму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Bernstein–Lange</a:t>
            </a: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стрімке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зростання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продуктивності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GPU (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 законом Мура) у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поєднанні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з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подальшими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алгоритмічними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покращеннями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потребує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постійного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моніторингу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рівня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стійкості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70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отриманих результатів 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1430721" y="712150"/>
            <a:ext cx="5878085" cy="42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ru-RU" sz="1400" b="1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Співставлення</a:t>
            </a:r>
            <a:r>
              <a:rPr lang="ru-RU" sz="1400" b="1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з </a:t>
            </a:r>
            <a:r>
              <a:rPr lang="ru-RU" sz="1400" b="1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цілями</a:t>
            </a:r>
            <a:endParaRPr lang="en-US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 algn="ctr">
              <a:lnSpc>
                <a:spcPct val="150000"/>
              </a:lnSpc>
              <a:buNone/>
            </a:pP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Мета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досягнута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+ 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GPU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дає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виграш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&gt; 4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порядків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(64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біт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en-US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 algn="ctr">
              <a:lnSpc>
                <a:spcPct val="150000"/>
              </a:lnSpc>
              <a:buNone/>
            </a:pP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CPU Pollard 12 </a:t>
            </a:r>
            <a:r>
              <a:rPr lang="en-US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год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GPU BL 1,05 </a:t>
            </a:r>
            <a:r>
              <a:rPr lang="en-US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</a:t>
            </a:r>
            <a:endParaRPr lang="en-US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 algn="ctr">
              <a:lnSpc>
                <a:spcPct val="150000"/>
              </a:lnSpc>
              <a:buNone/>
            </a:pPr>
            <a:r>
              <a:rPr lang="en-US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Центральна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гіпотеза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роботи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підтверджена</a:t>
            </a:r>
            <a:endParaRPr lang="uk-UA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 algn="ctr">
              <a:lnSpc>
                <a:spcPct val="150000"/>
              </a:lnSpc>
              <a:buNone/>
            </a:pPr>
            <a:endParaRPr lang="en-US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 algn="ctr">
              <a:lnSpc>
                <a:spcPct val="150000"/>
              </a:lnSpc>
              <a:buNone/>
            </a:pPr>
            <a:r>
              <a:rPr lang="en-US" sz="1400" b="1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Висновки</a:t>
            </a:r>
            <a:endParaRPr lang="en-US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 algn="ctr">
              <a:lnSpc>
                <a:spcPct val="150000"/>
              </a:lnSpc>
              <a:buNone/>
            </a:pP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перевершує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Pollard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на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обох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платформах —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алгоритмічна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перевага</a:t>
            </a:r>
            <a:endParaRPr lang="en-US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 algn="ctr">
              <a:lnSpc>
                <a:spcPct val="150000"/>
              </a:lnSpc>
              <a:buNone/>
            </a:pP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GPU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прискорення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(35–106×)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проти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Pollard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(3–4×)</a:t>
            </a:r>
            <a:endParaRPr lang="en-US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 algn="ctr">
              <a:lnSpc>
                <a:spcPct val="150000"/>
              </a:lnSpc>
              <a:buNone/>
            </a:pP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краще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використовує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SIMT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паралелізм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GPU</a:t>
            </a:r>
          </a:p>
          <a:p>
            <a:pPr marL="114300" lvl="0" indent="0" algn="ctr">
              <a:lnSpc>
                <a:spcPct val="150000"/>
              </a:lnSpc>
              <a:buNone/>
            </a:pP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Вузьке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місце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конфлікти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доступу до хеш-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таблиці</a:t>
            </a:r>
            <a:endParaRPr lang="en-US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 algn="ctr">
              <a:lnSpc>
                <a:spcPct val="150000"/>
              </a:lnSpc>
              <a:buNone/>
            </a:pP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Вузьке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місце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Pollard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«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хвостовий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ефект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 у </a:t>
            </a:r>
            <a:r>
              <a:rPr lang="ru-RU" sz="14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блоці</a:t>
            </a:r>
            <a:r>
              <a:rPr lang="ru-RU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</a:t>
            </a:r>
            <a:endParaRPr lang="uk-UA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 algn="ctr">
              <a:lnSpc>
                <a:spcPct val="150000"/>
              </a:lnSpc>
              <a:buNone/>
            </a:pPr>
            <a:r>
              <a:rPr lang="uk-UA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Рекомендується розглянути міграцію коштів на нові адреси з нерозкритим</a:t>
            </a:r>
          </a:p>
          <a:p>
            <a:pPr marL="114300" lvl="0" indent="0" algn="ctr">
              <a:lnSpc>
                <a:spcPct val="150000"/>
              </a:lnSpc>
              <a:buNone/>
            </a:pPr>
            <a:r>
              <a:rPr lang="uk-UA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публічним ключем.</a:t>
            </a:r>
            <a:endParaRPr lang="en-US" sz="1400" dirty="0"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 </a:t>
            </a:r>
            <a:endParaRPr sz="3200" dirty="0"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ХХХ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ий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міжнародний форум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Радіоелектроніка та молодь у ХХІ столітті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”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65FEC1-AB66-229E-5B2D-40B6893DA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903" y="823311"/>
            <a:ext cx="4017597" cy="37559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E7ED296B-1FDD-C688-C8AE-C2DEE0850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4D2AF85A-BD47-5904-3502-3478EA088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Можливий розвиток 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77FFB078-6E6F-9396-A5D7-12D407C127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A391F0-278B-0FB2-CFBC-8053EBD1CA3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8C8B2-2A32-56F8-23BE-E1E945CB0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4869" y="5343222"/>
            <a:ext cx="8520600" cy="3354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7F5F84-7931-3F03-B28F-1820FE6375D0}"/>
              </a:ext>
            </a:extLst>
          </p:cNvPr>
          <p:cNvSpPr txBox="1"/>
          <p:nvPr/>
        </p:nvSpPr>
        <p:spPr>
          <a:xfrm>
            <a:off x="268925" y="726060"/>
            <a:ext cx="6255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Використання розробок та алгоритмів в інших сферах та протоколах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B48825-76A2-8ED2-F399-8242CC1EF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67" y="1278877"/>
            <a:ext cx="5514866" cy="308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98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268925" y="-12681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268925" y="774913"/>
            <a:ext cx="4164384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US" sz="12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Реалістичність</a:t>
            </a:r>
            <a:r>
              <a:rPr lang="en-US" sz="12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</a:t>
            </a:r>
            <a:r>
              <a:rPr lang="en-US" sz="12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корисність</a:t>
            </a:r>
            <a:endParaRPr lang="en-US" sz="1200" b="1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lnSpc>
                <a:spcPct val="100000"/>
              </a:lnSpc>
              <a:buNone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Результати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отримано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на доступному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комерційному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обладнанні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Docker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середовище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+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фіксовані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дані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повна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відтворюваність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≥ 30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запусків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конфігурацію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статистична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значущість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Підтверджена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стійкість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Біткоїну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на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сучасному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рівні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технологій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Система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інструмент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аудиту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моніторингу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Переноситься на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NIST P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-256,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Curve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25519,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BN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-254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lvl="0" indent="0">
              <a:lnSpc>
                <a:spcPct val="100000"/>
              </a:lnSpc>
              <a:buNone/>
            </a:pP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Можливий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внесок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до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стандартів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NIST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/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ENISA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9BC138-C17D-48EB-856E-E2F12EF20AC6}"/>
              </a:ext>
            </a:extLst>
          </p:cNvPr>
          <p:cNvSpPr txBox="1"/>
          <p:nvPr/>
        </p:nvSpPr>
        <p:spPr>
          <a:xfrm>
            <a:off x="4864629" y="774913"/>
            <a:ext cx="378420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2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Можливий розвиток</a:t>
            </a:r>
            <a:endParaRPr lang="uk-UA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Усунення вузького місця пам'яті: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cuckoo-</a:t>
            </a:r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хешування,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HBM-GPU (A100, H100)</a:t>
            </a:r>
          </a:p>
          <a:p>
            <a:pPr lvl="0"/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Масштабування на </a:t>
            </a:r>
            <a:r>
              <a:rPr lang="uk-UA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мульти</a:t>
            </a:r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GPU: 4, 8, 16, 32 </a:t>
            </a:r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карти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endParaRPr lang="uk-UA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Розширення експериментів до 80- і 96-бітних секретів</a:t>
            </a:r>
          </a:p>
          <a:p>
            <a:pPr lvl="0"/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Використання </a:t>
            </a:r>
            <a:r>
              <a:rPr lang="uk-UA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ендоморфізму</a:t>
            </a:r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uk-UA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Фробеніуса</a:t>
            </a:r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(потенціал ×1,5–2)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endParaRPr lang="uk-UA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Порівняння з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FPGA-</a:t>
            </a:r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реалізаціями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endParaRPr lang="uk-UA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Перенесення методології на інші еліптичні криві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endParaRPr lang="uk-UA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Використання розрахунків в інших протоколах та оцінка можливих атак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0581B-E2D7-CA2E-E2F4-D61BC5357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Дякую за увагу!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427359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 роб маг.potm" id="{A19877F2-EA89-480D-A21F-ED20B9F51EE0}" vid="{B9D95002-0B5D-4FEA-952B-414E687D2F6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Luxe</Template>
  <TotalTime>300</TotalTime>
  <Words>1351</Words>
  <Application>Microsoft Macintosh PowerPoint</Application>
  <PresentationFormat>On-screen Show (16:9)</PresentationFormat>
  <Paragraphs>197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Open Sans</vt:lpstr>
      <vt:lpstr>Economica</vt:lpstr>
      <vt:lpstr>Arial</vt:lpstr>
      <vt:lpstr>Cambria Math</vt:lpstr>
      <vt:lpstr>Calibri</vt:lpstr>
      <vt:lpstr>Luxe</vt:lpstr>
      <vt:lpstr>Дослідження методів та  алгоритмів для рішення проблеми дискретного логарифмування в контексті криптографічної стійкості Біткоїну </vt:lpstr>
      <vt:lpstr>Дослідження</vt:lpstr>
      <vt:lpstr>Огляд літератури (аналогів) </vt:lpstr>
      <vt:lpstr>Постановка задачі</vt:lpstr>
      <vt:lpstr>Інструментарій </vt:lpstr>
      <vt:lpstr>Архітектура системи для проведення експериментального дослідження</vt:lpstr>
      <vt:lpstr>Опис програмного забезпечення, що було розроблено для проведення дослідження</vt:lpstr>
      <vt:lpstr>Зміст проведеного експерименту</vt:lpstr>
      <vt:lpstr>Приклад коду</vt:lpstr>
      <vt:lpstr>Результати експерименту </vt:lpstr>
      <vt:lpstr>Результати експерименту </vt:lpstr>
      <vt:lpstr>Аналіз отриманих результатів </vt:lpstr>
      <vt:lpstr>Публікація результатів </vt:lpstr>
      <vt:lpstr>Можливий розвиток </vt:lpstr>
      <vt:lpstr>Підсумки 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Назарій Щербак</dc:creator>
  <cp:lastModifiedBy>Назарій Щербак</cp:lastModifiedBy>
  <cp:revision>4</cp:revision>
  <dcterms:created xsi:type="dcterms:W3CDTF">2026-05-13T11:40:53Z</dcterms:created>
  <dcterms:modified xsi:type="dcterms:W3CDTF">2026-05-20T13:26:39Z</dcterms:modified>
</cp:coreProperties>
</file>